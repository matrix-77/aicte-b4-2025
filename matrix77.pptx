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5"/>
  </p:notesMasterIdLst>
  <p:sldIdLst>
    <p:sldId id="256" r:id="rId5"/>
    <p:sldId id="2146847054" r:id="rId6"/>
    <p:sldId id="262" r:id="rId7"/>
    <p:sldId id="263" r:id="rId8"/>
    <p:sldId id="265" r:id="rId9"/>
    <p:sldId id="2146847057" r:id="rId10"/>
    <p:sldId id="2146847060" r:id="rId11"/>
    <p:sldId id="2146847062" r:id="rId12"/>
    <p:sldId id="2146847061"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13-02-2025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2/13/2025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2/13/2025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2/13/2025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2/13/2025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2/13/2025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2/13/2025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2/13/2025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2/13/2025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GB" b="1" dirty="0">
                <a:solidFill>
                  <a:schemeClr val="accent1"/>
                </a:solidFill>
                <a:latin typeface="Arial" panose="020B0604020202020204" pitchFamily="34" charset="0"/>
                <a:cs typeface="Arial" panose="020B0604020202020204" pitchFamily="34" charset="0"/>
              </a:rPr>
              <a:t>SECURE THE DATA TO PREVENT HACKERS.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Student Name : Aryan Raj</a:t>
            </a:r>
          </a:p>
          <a:p>
            <a:r>
              <a:rPr lang="en-US" sz="2000" b="1" dirty="0">
                <a:solidFill>
                  <a:schemeClr val="accent1">
                    <a:lumMod val="75000"/>
                  </a:schemeClr>
                </a:solidFill>
                <a:latin typeface="Arial"/>
                <a:cs typeface="Arial"/>
              </a:rPr>
              <a:t>College Name &amp; Department : St. </a:t>
            </a:r>
            <a:r>
              <a:rPr lang="en-US" sz="2000" b="1" dirty="0" err="1">
                <a:solidFill>
                  <a:schemeClr val="accent1">
                    <a:lumMod val="75000"/>
                  </a:schemeClr>
                </a:solidFill>
                <a:latin typeface="Arial"/>
                <a:cs typeface="Arial"/>
              </a:rPr>
              <a:t>Aloysis</a:t>
            </a:r>
            <a:r>
              <a:rPr lang="en-US" sz="2000" b="1" dirty="0">
                <a:solidFill>
                  <a:schemeClr val="accent1">
                    <a:lumMod val="75000"/>
                  </a:schemeClr>
                </a:solidFill>
                <a:latin typeface="Arial"/>
                <a:cs typeface="Arial"/>
              </a:rPr>
              <a:t> (Autonomous) College, </a:t>
            </a:r>
            <a:r>
              <a:rPr lang="en-US" sz="2000" b="1">
                <a:solidFill>
                  <a:schemeClr val="accent1">
                    <a:lumMod val="75000"/>
                  </a:schemeClr>
                </a:solidFill>
                <a:latin typeface="Arial"/>
                <a:cs typeface="Arial"/>
              </a:rPr>
              <a:t>Jabalpur (M.P.)</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r>
              <a:rPr lang="en-GB" sz="3200" b="1" dirty="0">
                <a:solidFill>
                  <a:srgbClr val="0F0F0F"/>
                </a:solidFill>
                <a:ea typeface="+mn-lt"/>
                <a:cs typeface="+mn-lt"/>
              </a:rPr>
              <a:t>SECURE DATA HIDING IN IMAGES USING STEGANOGRAPHY</a:t>
            </a:r>
            <a:endParaRPr lang="en-IN" b="1"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GB" b="1" dirty="0"/>
              <a:t>Libraries</a:t>
            </a:r>
            <a:r>
              <a:rPr lang="en-GB" dirty="0"/>
              <a:t> :</a:t>
            </a:r>
          </a:p>
          <a:p>
            <a:r>
              <a:rPr lang="en-GB" u="sng" dirty="0"/>
              <a:t>OpenCV(cv2)</a:t>
            </a:r>
            <a:r>
              <a:rPr lang="en-GB" dirty="0"/>
              <a:t> : Used for image processing and manipulation.</a:t>
            </a:r>
          </a:p>
          <a:p>
            <a:r>
              <a:rPr lang="en-IN" u="sng" dirty="0"/>
              <a:t>Operating System(</a:t>
            </a:r>
            <a:r>
              <a:rPr lang="en-IN" u="sng" dirty="0" err="1"/>
              <a:t>os</a:t>
            </a:r>
            <a:r>
              <a:rPr lang="en-IN" dirty="0"/>
              <a:t>) : </a:t>
            </a:r>
            <a:r>
              <a:rPr lang="en-GB" dirty="0"/>
              <a:t>Provides a way of using operating system-dependent functionality like reading or writing to the file system, managing environment variables, and handling processes.</a:t>
            </a:r>
          </a:p>
          <a:p>
            <a:r>
              <a:rPr lang="en-GB" u="sng" dirty="0"/>
              <a:t>String</a:t>
            </a:r>
            <a:r>
              <a:rPr lang="en-GB" dirty="0"/>
              <a:t> : Provides a collection of string operations and constants that can be very useful for various text processing tasks.</a:t>
            </a:r>
          </a:p>
          <a:p>
            <a:pPr marL="0" indent="0">
              <a:buNone/>
            </a:pPr>
            <a:r>
              <a:rPr lang="en-IN" b="1" dirty="0"/>
              <a:t>Platforms :</a:t>
            </a:r>
          </a:p>
          <a:p>
            <a:r>
              <a:rPr lang="en-GB" u="sng" dirty="0"/>
              <a:t>Python</a:t>
            </a:r>
            <a:r>
              <a:rPr lang="en-GB" dirty="0"/>
              <a:t> : The primary programming language used for implementing steganography projects.</a:t>
            </a:r>
          </a:p>
          <a:p>
            <a:r>
              <a:rPr lang="en-GB" u="sng" dirty="0"/>
              <a:t>GitHub</a:t>
            </a:r>
            <a:r>
              <a:rPr lang="en-GB" dirty="0"/>
              <a:t> : A platform for hosting and sharing code repositories, where many steganography projects are available.</a:t>
            </a: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fontScale="92500" lnSpcReduction="20000"/>
          </a:bodyPr>
          <a:lstStyle/>
          <a:p>
            <a:pPr marL="0" indent="0">
              <a:buNone/>
            </a:pPr>
            <a:r>
              <a:rPr lang="en-GB" sz="1800" dirty="0">
                <a:solidFill>
                  <a:srgbClr val="0F0F0F"/>
                </a:solidFill>
              </a:rPr>
              <a:t>Steganography, the art of hiding data within images, offers several "wow factors" that make it an impressive technique for securing data.</a:t>
            </a:r>
          </a:p>
          <a:p>
            <a:r>
              <a:rPr lang="en-GB" sz="1800" b="1" dirty="0">
                <a:solidFill>
                  <a:srgbClr val="0F0F0F"/>
                </a:solidFill>
              </a:rPr>
              <a:t>Invisibility </a:t>
            </a:r>
            <a:r>
              <a:rPr lang="en-GB" sz="1800" dirty="0">
                <a:solidFill>
                  <a:srgbClr val="0F0F0F"/>
                </a:solidFill>
              </a:rPr>
              <a:t>: Steganography embeds the secret data within the image in such a way that it remains invisible to the naked eye. This makes it a highly discreet method of communication and data protection.</a:t>
            </a:r>
            <a:endParaRPr lang="en-GB" sz="1800" b="1" dirty="0">
              <a:solidFill>
                <a:srgbClr val="0F0F0F"/>
              </a:solidFill>
            </a:endParaRPr>
          </a:p>
          <a:p>
            <a:r>
              <a:rPr lang="en-GB" sz="1800" b="1" dirty="0">
                <a:solidFill>
                  <a:srgbClr val="0F0F0F"/>
                </a:solidFill>
              </a:rPr>
              <a:t>Security</a:t>
            </a:r>
            <a:r>
              <a:rPr lang="en-GB" sz="1800" dirty="0">
                <a:solidFill>
                  <a:srgbClr val="0F0F0F"/>
                </a:solidFill>
              </a:rPr>
              <a:t> : By combining steganography with encryption, the security of the hidden data is significantly enhanced. Even if someone detects the hidden data, they would still need the encryption key to access the content.</a:t>
            </a:r>
          </a:p>
          <a:p>
            <a:r>
              <a:rPr lang="en-GB" sz="1800" b="1" dirty="0">
                <a:solidFill>
                  <a:srgbClr val="0F0F0F"/>
                </a:solidFill>
              </a:rPr>
              <a:t>Data Integrity</a:t>
            </a:r>
            <a:r>
              <a:rPr lang="en-GB" sz="1800" dirty="0">
                <a:solidFill>
                  <a:srgbClr val="0F0F0F"/>
                </a:solidFill>
              </a:rPr>
              <a:t> : The hidden data in steganography can be designed to be robust against common image manipulations, such as resizing and compression, ensuring the integrity of the hidden information.</a:t>
            </a:r>
          </a:p>
          <a:p>
            <a:r>
              <a:rPr lang="en-GB" sz="1800" b="1" dirty="0">
                <a:solidFill>
                  <a:srgbClr val="0F0F0F"/>
                </a:solidFill>
              </a:rPr>
              <a:t>Simplicity of Use </a:t>
            </a:r>
            <a:r>
              <a:rPr lang="en-GB" sz="1800" dirty="0">
                <a:solidFill>
                  <a:srgbClr val="0F0F0F"/>
                </a:solidFill>
              </a:rPr>
              <a:t>: Modern steganography tools and libraries make it relatively easy to embed and extract data, even for users without extensive technical knowledge.</a:t>
            </a:r>
          </a:p>
          <a:p>
            <a:r>
              <a:rPr lang="en-GB" sz="1800" b="1" dirty="0">
                <a:solidFill>
                  <a:srgbClr val="0F0F0F"/>
                </a:solidFill>
              </a:rPr>
              <a:t>Academic and Research Interest </a:t>
            </a:r>
            <a:r>
              <a:rPr lang="en-GB" sz="1800" dirty="0">
                <a:solidFill>
                  <a:srgbClr val="0F0F0F"/>
                </a:solidFill>
              </a:rPr>
              <a:t>: The technique continues to be a topic of interest in academic and research circles, leading to continuous improvements and innovations in the field.</a:t>
            </a:r>
          </a:p>
          <a:p>
            <a:r>
              <a:rPr lang="en-GB" sz="1800" b="1" dirty="0">
                <a:solidFill>
                  <a:srgbClr val="0F0F0F"/>
                </a:solidFill>
              </a:rPr>
              <a:t>Real-world Use Cases</a:t>
            </a:r>
            <a:r>
              <a:rPr lang="en-GB" sz="1800" dirty="0">
                <a:solidFill>
                  <a:srgbClr val="0F0F0F"/>
                </a:solidFill>
              </a:rPr>
              <a:t> : Steganography has been employed in real-world scenarios, such as :</a:t>
            </a:r>
          </a:p>
          <a:p>
            <a:pPr lvl="1"/>
            <a:r>
              <a:rPr lang="en-GB" sz="1500" b="1" dirty="0">
                <a:solidFill>
                  <a:srgbClr val="0F0F0F"/>
                </a:solidFill>
              </a:rPr>
              <a:t>Covert Communication </a:t>
            </a:r>
            <a:r>
              <a:rPr lang="en-GB" sz="1500" dirty="0">
                <a:solidFill>
                  <a:srgbClr val="0F0F0F"/>
                </a:solidFill>
              </a:rPr>
              <a:t>: Used by intelligence agencies for discreet communication.</a:t>
            </a:r>
          </a:p>
          <a:p>
            <a:pPr lvl="1"/>
            <a:r>
              <a:rPr lang="en-GB" sz="1500" b="1" dirty="0">
                <a:solidFill>
                  <a:srgbClr val="0F0F0F"/>
                </a:solidFill>
              </a:rPr>
              <a:t>Digital Forensics </a:t>
            </a:r>
            <a:r>
              <a:rPr lang="en-GB" sz="1500" dirty="0">
                <a:solidFill>
                  <a:srgbClr val="0F0F0F"/>
                </a:solidFill>
              </a:rPr>
              <a:t>: Embedding data within images for tracking and legal purposes.</a:t>
            </a:r>
            <a:endParaRPr lang="en-IN" sz="1500"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a:xfrm>
            <a:off x="581192" y="1302026"/>
            <a:ext cx="11029615" cy="5217646"/>
          </a:xfrm>
        </p:spPr>
        <p:txBody>
          <a:bodyPr>
            <a:noAutofit/>
          </a:bodyPr>
          <a:lstStyle/>
          <a:p>
            <a:pPr>
              <a:buFont typeface="Courier New" panose="02070309020205020404" pitchFamily="49" charset="0"/>
              <a:buChar char="o"/>
            </a:pPr>
            <a:r>
              <a:rPr lang="en-GB" sz="1200" b="1" dirty="0"/>
              <a:t>Military </a:t>
            </a:r>
            <a:r>
              <a:rPr lang="en-GB" sz="1200" dirty="0"/>
              <a:t>: </a:t>
            </a:r>
          </a:p>
          <a:p>
            <a:r>
              <a:rPr lang="en-GB" sz="1200" u="sng" dirty="0"/>
              <a:t>Secure Messaging</a:t>
            </a:r>
            <a:r>
              <a:rPr lang="en-GB" sz="1200" dirty="0"/>
              <a:t> : Ensuring that strategic and operational communications are protected from interception.</a:t>
            </a:r>
          </a:p>
          <a:p>
            <a:r>
              <a:rPr lang="en-GB" sz="1200" u="sng" dirty="0"/>
              <a:t>Intelligence Operations</a:t>
            </a:r>
            <a:r>
              <a:rPr lang="en-GB" sz="1200" dirty="0"/>
              <a:t> : Concealing mission-critical information within images to prevent enemy detection.</a:t>
            </a:r>
          </a:p>
          <a:p>
            <a:pPr>
              <a:buFont typeface="Courier New" panose="02070309020205020404" pitchFamily="49" charset="0"/>
              <a:buChar char="o"/>
            </a:pPr>
            <a:r>
              <a:rPr lang="en-GB" sz="1200" b="1" dirty="0"/>
              <a:t>Healthcare Providers</a:t>
            </a:r>
            <a:r>
              <a:rPr lang="en-GB" sz="1200" dirty="0"/>
              <a:t> : </a:t>
            </a:r>
          </a:p>
          <a:p>
            <a:r>
              <a:rPr lang="en-GB" sz="1200" u="sng" dirty="0"/>
              <a:t>Patient Data Security</a:t>
            </a:r>
            <a:r>
              <a:rPr lang="en-GB" sz="1200" dirty="0"/>
              <a:t> : Embedding patient information within medical images to ensure confidentiality and compliance with regulations such as HIPAA.</a:t>
            </a:r>
          </a:p>
          <a:p>
            <a:r>
              <a:rPr lang="en-GB" sz="1200" u="sng" dirty="0"/>
              <a:t>Research Data Protection</a:t>
            </a:r>
            <a:r>
              <a:rPr lang="en-GB" sz="1200" dirty="0"/>
              <a:t> : Safeguarding sensitive research data from unauthorized access.</a:t>
            </a:r>
          </a:p>
          <a:p>
            <a:pPr>
              <a:buFont typeface="Courier New" panose="02070309020205020404" pitchFamily="49" charset="0"/>
              <a:buChar char="o"/>
            </a:pPr>
            <a:r>
              <a:rPr lang="en-GB" sz="1200" b="1" dirty="0"/>
              <a:t>Financial Institutions </a:t>
            </a:r>
            <a:r>
              <a:rPr lang="en-GB" sz="1200" dirty="0"/>
              <a:t>: </a:t>
            </a:r>
          </a:p>
          <a:p>
            <a:r>
              <a:rPr lang="en-GB" sz="1200" u="sng" dirty="0"/>
              <a:t>Secure Transactions</a:t>
            </a:r>
            <a:r>
              <a:rPr lang="en-GB" sz="1200" dirty="0"/>
              <a:t> : Protecting transaction data and financial information from cyber threats.</a:t>
            </a:r>
          </a:p>
          <a:p>
            <a:r>
              <a:rPr lang="en-GB" sz="1200" u="sng" dirty="0"/>
              <a:t>Anti-Fraud Measures</a:t>
            </a:r>
            <a:r>
              <a:rPr lang="en-GB" sz="1200" dirty="0"/>
              <a:t> : Embedding anti-counterfeiting measures within images on financial documents.</a:t>
            </a:r>
          </a:p>
          <a:p>
            <a:pPr>
              <a:buFont typeface="Courier New" panose="02070309020205020404" pitchFamily="49" charset="0"/>
              <a:buChar char="o"/>
            </a:pPr>
            <a:r>
              <a:rPr lang="en-GB" sz="1200" b="1" dirty="0"/>
              <a:t>Educational Institutions</a:t>
            </a:r>
            <a:r>
              <a:rPr lang="en-GB" sz="1200" dirty="0"/>
              <a:t> : </a:t>
            </a:r>
          </a:p>
          <a:p>
            <a:r>
              <a:rPr lang="en-GB" sz="1200" u="sng" dirty="0"/>
              <a:t>Research Data Security</a:t>
            </a:r>
            <a:r>
              <a:rPr lang="en-GB" sz="1200" dirty="0"/>
              <a:t> : Protecting research data and findings from unauthorized access and ensuring academic integrity.</a:t>
            </a:r>
          </a:p>
          <a:p>
            <a:r>
              <a:rPr lang="en-GB" sz="1200" u="sng" dirty="0"/>
              <a:t>Student Information Protection</a:t>
            </a:r>
            <a:r>
              <a:rPr lang="en-GB" sz="1200" dirty="0"/>
              <a:t> : Embedding student information within images to comply with data protection regulations.</a:t>
            </a:r>
          </a:p>
          <a:p>
            <a:pPr>
              <a:buFont typeface="Courier New" panose="02070309020205020404" pitchFamily="49" charset="0"/>
              <a:buChar char="o"/>
            </a:pPr>
            <a:r>
              <a:rPr lang="en-GB" sz="1200" b="1" dirty="0"/>
              <a:t>Journalists and Media Professionals</a:t>
            </a:r>
            <a:r>
              <a:rPr lang="en-GB" sz="1200" dirty="0"/>
              <a:t> : </a:t>
            </a:r>
          </a:p>
          <a:p>
            <a:r>
              <a:rPr lang="en-GB" sz="1200" u="sng" dirty="0"/>
              <a:t>Protecting Sources</a:t>
            </a:r>
            <a:r>
              <a:rPr lang="en-GB" sz="1200" dirty="0"/>
              <a:t> : Concealing the identities and information of confidential sources within images.</a:t>
            </a:r>
          </a:p>
          <a:p>
            <a:r>
              <a:rPr lang="en-GB" sz="1200" u="sng" dirty="0"/>
              <a:t>Secure Reporting</a:t>
            </a:r>
            <a:r>
              <a:rPr lang="en-GB" sz="1200" dirty="0"/>
              <a:t> : Ensuring sensitive information related to investigative journalism is kept confidential.</a:t>
            </a:r>
          </a:p>
          <a:p>
            <a:pPr>
              <a:buFont typeface="Courier New" panose="02070309020205020404" pitchFamily="49" charset="0"/>
              <a:buChar char="o"/>
            </a:pPr>
            <a:r>
              <a:rPr lang="en-GB" sz="1200" b="1" dirty="0"/>
              <a:t>Individuals </a:t>
            </a:r>
            <a:r>
              <a:rPr lang="en-GB" sz="1200" dirty="0"/>
              <a:t>: </a:t>
            </a:r>
          </a:p>
          <a:p>
            <a:r>
              <a:rPr lang="en-GB" sz="1200" dirty="0"/>
              <a:t>Personal Data Security: Protecting personal documents and sensitive information by embedding them within personal images.</a:t>
            </a:r>
          </a:p>
          <a:p>
            <a:r>
              <a:rPr lang="en-GB" sz="1200" u="sng" dirty="0"/>
              <a:t>Secure Communication</a:t>
            </a:r>
            <a:r>
              <a:rPr lang="en-GB" sz="1200" dirty="0"/>
              <a:t> : Ensuring private messages and data are kept confidential when shared over the internet.</a:t>
            </a:r>
            <a:endParaRPr lang="en-IN" sz="1200" dirty="0"/>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35E47987-51DD-47D8-82CB-3239C1041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2" name="Rectangle 61">
            <a:extLst>
              <a:ext uri="{FF2B5EF4-FFF2-40B4-BE49-F238E27FC236}">
                <a16:creationId xmlns:a16="http://schemas.microsoft.com/office/drawing/2014/main" id="{343B51BC-A337-4FC1-8BEC-2C71D3B3F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4" name="Rectangle 63">
            <a:extLst>
              <a:ext uri="{FF2B5EF4-FFF2-40B4-BE49-F238E27FC236}">
                <a16:creationId xmlns:a16="http://schemas.microsoft.com/office/drawing/2014/main" id="{F06EB04D-98C2-4D74-86BC-1E95ECF55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6" name="Rectangle 65">
            <a:extLst>
              <a:ext uri="{FF2B5EF4-FFF2-40B4-BE49-F238E27FC236}">
                <a16:creationId xmlns:a16="http://schemas.microsoft.com/office/drawing/2014/main" id="{5FE21824-8381-405C-BDEF-3859DE644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68" name="Rectangle 67">
            <a:extLst>
              <a:ext uri="{FF2B5EF4-FFF2-40B4-BE49-F238E27FC236}">
                <a16:creationId xmlns:a16="http://schemas.microsoft.com/office/drawing/2014/main" id="{6EA7B49C-1DDA-4A36-B615-CCE52D770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0349BF0E-90A2-447D-851A-A1C4FC5E5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911" y="638175"/>
            <a:ext cx="3682784" cy="575239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a:xfrm>
            <a:off x="700218" y="1656292"/>
            <a:ext cx="3150659" cy="2085869"/>
          </a:xfrm>
        </p:spPr>
        <p:txBody>
          <a:bodyPr vert="horz" lIns="91440" tIns="45720" rIns="91440" bIns="45720" rtlCol="0" anchor="b">
            <a:normAutofit/>
          </a:bodyPr>
          <a:lstStyle/>
          <a:p>
            <a:r>
              <a:rPr lang="en-US" sz="3600">
                <a:solidFill>
                  <a:srgbClr val="FFFFFF"/>
                </a:solidFill>
              </a:rPr>
              <a:t>Results</a:t>
            </a:r>
          </a:p>
        </p:txBody>
      </p:sp>
      <p:sp>
        <p:nvSpPr>
          <p:cNvPr id="72" name="Rectangle 71">
            <a:extLst>
              <a:ext uri="{FF2B5EF4-FFF2-40B4-BE49-F238E27FC236}">
                <a16:creationId xmlns:a16="http://schemas.microsoft.com/office/drawing/2014/main" id="{5B432A1A-7A25-4237-B64F-E0244D852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5422"/>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4" name="Rectangle 73">
            <a:extLst>
              <a:ext uri="{FF2B5EF4-FFF2-40B4-BE49-F238E27FC236}">
                <a16:creationId xmlns:a16="http://schemas.microsoft.com/office/drawing/2014/main" id="{371419D3-21C1-47D3-9BB6-2E08FCE81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4341"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6" name="Rectangle 75">
            <a:extLst>
              <a:ext uri="{FF2B5EF4-FFF2-40B4-BE49-F238E27FC236}">
                <a16:creationId xmlns:a16="http://schemas.microsoft.com/office/drawing/2014/main" id="{99383C2D-F910-444C-AFBF-2A6C72EBA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8" name="Rectangle 77">
            <a:extLst>
              <a:ext uri="{FF2B5EF4-FFF2-40B4-BE49-F238E27FC236}">
                <a16:creationId xmlns:a16="http://schemas.microsoft.com/office/drawing/2014/main" id="{8AC7279F-774B-48BD-8EC4-E7346A34A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2242" y="627940"/>
            <a:ext cx="3704425" cy="2837094"/>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screenshot of a computer&#10;&#10;AI-generated content may be incorrect.">
            <a:extLst>
              <a:ext uri="{FF2B5EF4-FFF2-40B4-BE49-F238E27FC236}">
                <a16:creationId xmlns:a16="http://schemas.microsoft.com/office/drawing/2014/main" id="{F5D44648-ED3C-466A-0CFB-62327DD9EFBF}"/>
              </a:ext>
            </a:extLst>
          </p:cNvPr>
          <p:cNvPicPr>
            <a:picLocks noChangeAspect="1"/>
          </p:cNvPicPr>
          <p:nvPr/>
        </p:nvPicPr>
        <p:blipFill>
          <a:blip r:embed="rId2"/>
          <a:stretch>
            <a:fillRect/>
          </a:stretch>
        </p:blipFill>
        <p:spPr>
          <a:xfrm>
            <a:off x="4411999" y="1098667"/>
            <a:ext cx="3356919" cy="1888267"/>
          </a:xfrm>
          <a:prstGeom prst="rect">
            <a:avLst/>
          </a:prstGeom>
        </p:spPr>
      </p:pic>
      <p:sp>
        <p:nvSpPr>
          <p:cNvPr id="80" name="Rectangle 79">
            <a:extLst>
              <a:ext uri="{FF2B5EF4-FFF2-40B4-BE49-F238E27FC236}">
                <a16:creationId xmlns:a16="http://schemas.microsoft.com/office/drawing/2014/main" id="{7DDFE527-440F-4625-B425-54376B60C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2736" y="627940"/>
            <a:ext cx="3704425" cy="2847329"/>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C2E4842-085B-4316-A26B-BFB4CF215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0762" y="3572039"/>
            <a:ext cx="3704425" cy="2818526"/>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computer&#10;&#10;AI-generated content may be incorrect.">
            <a:extLst>
              <a:ext uri="{FF2B5EF4-FFF2-40B4-BE49-F238E27FC236}">
                <a16:creationId xmlns:a16="http://schemas.microsoft.com/office/drawing/2014/main" id="{82C3485E-2778-1991-25FB-B0F768779E63}"/>
              </a:ext>
            </a:extLst>
          </p:cNvPr>
          <p:cNvPicPr>
            <a:picLocks noChangeAspect="1"/>
          </p:cNvPicPr>
          <p:nvPr/>
        </p:nvPicPr>
        <p:blipFill>
          <a:blip r:embed="rId3"/>
          <a:srcRect t="68644"/>
          <a:stretch/>
        </p:blipFill>
        <p:spPr>
          <a:xfrm>
            <a:off x="4411999" y="5307634"/>
            <a:ext cx="3356919" cy="592085"/>
          </a:xfrm>
          <a:prstGeom prst="rect">
            <a:avLst/>
          </a:prstGeom>
        </p:spPr>
      </p:pic>
      <p:sp>
        <p:nvSpPr>
          <p:cNvPr id="84" name="Rectangle 83">
            <a:extLst>
              <a:ext uri="{FF2B5EF4-FFF2-40B4-BE49-F238E27FC236}">
                <a16:creationId xmlns:a16="http://schemas.microsoft.com/office/drawing/2014/main" id="{E8015A85-E7C2-4028-A775-8B61DA2C2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3247" y="3572038"/>
            <a:ext cx="3704425" cy="2818526"/>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8D45A2FC-583F-F853-0A2B-F72A18A02B2D}"/>
              </a:ext>
            </a:extLst>
          </p:cNvPr>
          <p:cNvPicPr>
            <a:picLocks noChangeAspect="1"/>
          </p:cNvPicPr>
          <p:nvPr/>
        </p:nvPicPr>
        <p:blipFill>
          <a:blip r:embed="rId4"/>
          <a:stretch>
            <a:fillRect/>
          </a:stretch>
        </p:blipFill>
        <p:spPr>
          <a:xfrm>
            <a:off x="8207531" y="1098667"/>
            <a:ext cx="3372551" cy="1897059"/>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E7EEE504-F3F6-4E21-5094-AD50780DC3A4}"/>
              </a:ext>
            </a:extLst>
          </p:cNvPr>
          <p:cNvPicPr>
            <a:picLocks noChangeAspect="1"/>
          </p:cNvPicPr>
          <p:nvPr/>
        </p:nvPicPr>
        <p:blipFill>
          <a:blip r:embed="rId5"/>
          <a:stretch>
            <a:fillRect/>
          </a:stretch>
        </p:blipFill>
        <p:spPr>
          <a:xfrm>
            <a:off x="8218672" y="4062281"/>
            <a:ext cx="3372551" cy="1838040"/>
          </a:xfrm>
          <a:prstGeom prst="rect">
            <a:avLst/>
          </a:prstGeom>
        </p:spPr>
      </p:pic>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lstStyle/>
          <a:p>
            <a:pPr marL="0" indent="0">
              <a:buNone/>
            </a:pPr>
            <a:r>
              <a:rPr lang="en-GB" dirty="0"/>
              <a:t>Securing data hiding in images using steganography provides a sophisticated and robust method for protecting sensitive information. This technique leverages the power of invisibility, security, and versatility to ensure that data remains confidential and secure from unauthorized access. By embedding data within images, steganography offers a layer of protection that is difficult to detect, making it an ideal solution for covert communication, data integrity, and intellectual property protection.</a:t>
            </a:r>
          </a:p>
          <a:p>
            <a:pPr marL="0" indent="0">
              <a:buNone/>
            </a:pPr>
            <a:r>
              <a:rPr lang="en-GB" dirty="0"/>
              <a:t>Incorporating encryption alongside steganography further enhances security, ensuring that even if the hidden data is discovered, it remains inaccessible without the proper decryption key. This combination of techniques provides a comprehensive and reliable approach to safeguarding information in various fields, including government, military, healthcare, financial institutions, and more.</a:t>
            </a:r>
          </a:p>
          <a:p>
            <a:pPr marL="0" indent="0">
              <a:buNone/>
            </a:pPr>
            <a:r>
              <a:rPr lang="en-GB" dirty="0"/>
              <a:t>As technology continues to evolve, the applications and methodologies of steganography will also advance, providing even more robust and innovative solutions for data protection. By understanding and implementing these techniques, organizations and individuals can stay ahead of potential threats and maintain the confidentiality and integrity of their sensitive information.</a:t>
            </a:r>
          </a:p>
          <a:p>
            <a:pPr marL="0" indent="0">
              <a:buNone/>
            </a:pPr>
            <a:endParaRPr lang="en-IN" dirty="0"/>
          </a:p>
        </p:txBody>
      </p:sp>
    </p:spTree>
    <p:extLst>
      <p:ext uri="{BB962C8B-B14F-4D97-AF65-F5344CB8AC3E}">
        <p14:creationId xmlns:p14="http://schemas.microsoft.com/office/powerpoint/2010/main" val="423388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lstStyle/>
          <a:p>
            <a:r>
              <a:rPr lang="en-IN" dirty="0"/>
              <a:t>https://github.com/matrix-77/AICTE-B4-2025.git</a:t>
            </a:r>
          </a:p>
        </p:txBody>
      </p:sp>
    </p:spTree>
    <p:extLst>
      <p:ext uri="{BB962C8B-B14F-4D97-AF65-F5344CB8AC3E}">
        <p14:creationId xmlns:p14="http://schemas.microsoft.com/office/powerpoint/2010/main" val="223066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forward</Template>
  <TotalTime>85</TotalTime>
  <Words>797</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Courier New</vt:lpstr>
      <vt:lpstr>Franklin Gothic Book</vt:lpstr>
      <vt:lpstr>Franklin Gothic Demi</vt:lpstr>
      <vt:lpstr>Wingdings 2</vt:lpstr>
      <vt:lpstr>DividendVTI</vt:lpstr>
      <vt:lpstr>SECURE THE DATA TO PREVENT HACKERS.</vt:lpstr>
      <vt:lpstr>OUTLINE</vt:lpstr>
      <vt:lpstr>Problem Statement</vt:lpstr>
      <vt:lpstr>Technology  used</vt:lpstr>
      <vt:lpstr>Wow factors</vt:lpstr>
      <vt:lpstr>End users</vt:lpstr>
      <vt:lpstr>Results</vt:lpstr>
      <vt:lpstr>Conclusion</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Aryan Raj</cp:lastModifiedBy>
  <cp:revision>29</cp:revision>
  <dcterms:created xsi:type="dcterms:W3CDTF">2021-05-26T16:50:10Z</dcterms:created>
  <dcterms:modified xsi:type="dcterms:W3CDTF">2025-02-13T13:40:23Z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